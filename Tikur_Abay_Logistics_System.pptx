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1463040"/>
            <a:ext cx="5852160" cy="5852160"/>
          </a:xfrm>
          <a:prstGeom prst="ellipse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566928"/>
            <a:ext cx="11155680" cy="5440680"/>
          </a:xfrm>
          <a:prstGeom prst="roundRect">
            <a:avLst/>
          </a:prstGeom>
          <a:solidFill>
            <a:srgbClr val="122234"/>
          </a:solidFill>
          <a:ln w="19050">
            <a:solidFill>
              <a:srgbClr val="33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841248"/>
            <a:ext cx="146304" cy="4251960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804672"/>
            <a:ext cx="1162594" cy="822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78992" y="914400"/>
            <a:ext cx="2468880" cy="384048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LOGISTICS OPERATING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572768"/>
            <a:ext cx="6309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Tikur Abay</a:t>
            </a:r>
            <a:br/>
            <a:r>
              <a:t>End-to-End Logistics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1752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DDAE5"/>
                </a:solidFill>
              </a:defRPr>
            </a:pPr>
            <a:r>
              <a:t>Integrated control across shipping, bank process, customs, finance, dispatch, and container closure.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536192"/>
            <a:ext cx="3520440" cy="3566160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5478"/>
                </a:solidFill>
              </a:defRPr>
            </a:pPr>
            <a:r>
              <a:t>CORE PHASES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2139696"/>
            <a:ext cx="164592" cy="164592"/>
          </a:xfrm>
          <a:prstGeom prst="ellipse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0848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3648"/>
                </a:solidFill>
              </a:defRPr>
            </a:pPr>
            <a:r>
              <a:t>Quote</a:t>
            </a:r>
          </a:p>
        </p:txBody>
      </p:sp>
      <p:sp>
        <p:nvSpPr>
          <p:cNvPr id="13" name="Oval 12"/>
          <p:cNvSpPr/>
          <p:nvPr/>
        </p:nvSpPr>
        <p:spPr>
          <a:xfrm>
            <a:off x="7790688" y="2596896"/>
            <a:ext cx="164592" cy="164592"/>
          </a:xfrm>
          <a:prstGeom prst="ellipse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25420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3648"/>
                </a:solidFill>
              </a:defRPr>
            </a:pPr>
            <a:r>
              <a:t>Booking</a:t>
            </a:r>
          </a:p>
        </p:txBody>
      </p:sp>
      <p:sp>
        <p:nvSpPr>
          <p:cNvPr id="15" name="Oval 14"/>
          <p:cNvSpPr/>
          <p:nvPr/>
        </p:nvSpPr>
        <p:spPr>
          <a:xfrm>
            <a:off x="7790688" y="3054096"/>
            <a:ext cx="164592" cy="164592"/>
          </a:xfrm>
          <a:prstGeom prst="ellipse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2999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3648"/>
                </a:solidFill>
              </a:defRPr>
            </a:pPr>
            <a:r>
              <a:t>Shipping</a:t>
            </a:r>
          </a:p>
        </p:txBody>
      </p:sp>
      <p:sp>
        <p:nvSpPr>
          <p:cNvPr id="17" name="Oval 16"/>
          <p:cNvSpPr/>
          <p:nvPr/>
        </p:nvSpPr>
        <p:spPr>
          <a:xfrm>
            <a:off x="7790688" y="3511296"/>
            <a:ext cx="164592" cy="164592"/>
          </a:xfrm>
          <a:prstGeom prst="ellipse">
            <a:avLst/>
          </a:prstGeom>
          <a:solidFill>
            <a:srgbClr val="657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34564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3648"/>
                </a:solidFill>
              </a:defRPr>
            </a:pPr>
            <a:r>
              <a:t>Finance</a:t>
            </a:r>
          </a:p>
        </p:txBody>
      </p:sp>
      <p:sp>
        <p:nvSpPr>
          <p:cNvPr id="19" name="Oval 18"/>
          <p:cNvSpPr/>
          <p:nvPr/>
        </p:nvSpPr>
        <p:spPr>
          <a:xfrm>
            <a:off x="7790688" y="3968496"/>
            <a:ext cx="164592" cy="164592"/>
          </a:xfrm>
          <a:prstGeom prst="ellipse">
            <a:avLst/>
          </a:prstGeom>
          <a:solidFill>
            <a:srgbClr val="657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39136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3648"/>
                </a:solidFill>
              </a:defRPr>
            </a:pPr>
            <a:r>
              <a:t>Delivery</a:t>
            </a:r>
          </a:p>
        </p:txBody>
      </p:sp>
      <p:sp>
        <p:nvSpPr>
          <p:cNvPr id="21" name="Oval 20"/>
          <p:cNvSpPr/>
          <p:nvPr/>
        </p:nvSpPr>
        <p:spPr>
          <a:xfrm>
            <a:off x="7790688" y="4425696"/>
            <a:ext cx="164592" cy="164592"/>
          </a:xfrm>
          <a:prstGeom prst="ellipse">
            <a:avLst/>
          </a:prstGeom>
          <a:solidFill>
            <a:srgbClr val="657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43708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43648"/>
                </a:solidFill>
              </a:defRPr>
            </a:pPr>
            <a:r>
              <a:t>Closure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30368"/>
            <a:ext cx="10607040" cy="457200"/>
          </a:xfrm>
          <a:prstGeom prst="roundRect">
            <a:avLst/>
          </a:prstGeom>
          <a:solidFill>
            <a:srgbClr val="1D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One operating chain from customer quote to empty-container return and shipment closure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Master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The shipment operating chain from quote to final closure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359152"/>
            <a:ext cx="10442448" cy="292608"/>
          </a:xfrm>
          <a:prstGeom prst="round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53312" y="2212848"/>
            <a:ext cx="384048" cy="384048"/>
          </a:xfrm>
          <a:prstGeom prst="ellipse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783080"/>
            <a:ext cx="1261872" cy="107899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Commercial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34640"/>
            <a:ext cx="1353312" cy="1389888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Quote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Booking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956816"/>
            <a:ext cx="219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E7E8D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2871216" y="2212848"/>
            <a:ext cx="384048" cy="384048"/>
          </a:xfrm>
          <a:prstGeom prst="ellipse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32304" y="1783080"/>
            <a:ext cx="1261872" cy="107899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86584" y="2834640"/>
            <a:ext cx="1353312" cy="1389888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0B7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Cargo ready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Stuffing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1956816"/>
            <a:ext cx="219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E7E8D"/>
                </a:solidFill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2212848"/>
            <a:ext cx="384048" cy="384048"/>
          </a:xfrm>
          <a:prstGeom prst="ellipse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950208" y="1783080"/>
            <a:ext cx="1261872" cy="107899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04488" y="2834640"/>
            <a:ext cx="1353312" cy="1389888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SI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Vessel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BL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1956816"/>
            <a:ext cx="219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E7E8D"/>
                </a:solidFill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5907023" y="2212848"/>
            <a:ext cx="384048" cy="384048"/>
          </a:xfrm>
          <a:prstGeom prst="ellipse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68112" y="1783080"/>
            <a:ext cx="1261872" cy="107899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22392" y="2834640"/>
            <a:ext cx="1353312" cy="1389888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Bank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Arrival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Clearance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1" y="1956816"/>
            <a:ext cx="219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E7E8D"/>
                </a:solidFill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7424927" y="2212848"/>
            <a:ext cx="384048" cy="384048"/>
          </a:xfrm>
          <a:prstGeom prst="ellipse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86016" y="1783080"/>
            <a:ext cx="1261872" cy="107899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0296" y="2834640"/>
            <a:ext cx="1353312" cy="1389888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Charges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Payment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1956816"/>
            <a:ext cx="219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E7E8D"/>
                </a:solidFill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8942832" y="2212848"/>
            <a:ext cx="384048" cy="384048"/>
          </a:xfrm>
          <a:prstGeom prst="ellipse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03919" y="1783080"/>
            <a:ext cx="1261872" cy="107899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199" y="2834640"/>
            <a:ext cx="1353312" cy="1389888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Release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Dispatch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956816"/>
            <a:ext cx="2194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6E7E8D"/>
                </a:solidFill>
              </a:defRPr>
            </a:pPr>
            <a:r>
              <a:t>→</a:t>
            </a:r>
          </a:p>
        </p:txBody>
      </p:sp>
      <p:sp>
        <p:nvSpPr>
          <p:cNvPr id="34" name="Oval 33"/>
          <p:cNvSpPr/>
          <p:nvPr/>
        </p:nvSpPr>
        <p:spPr>
          <a:xfrm>
            <a:off x="10460736" y="2212848"/>
            <a:ext cx="384048" cy="384048"/>
          </a:xfrm>
          <a:prstGeom prst="ellipse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021824" y="1783080"/>
            <a:ext cx="1261872" cy="107899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76103" y="2834640"/>
            <a:ext cx="1353312" cy="1389888"/>
          </a:xfrm>
          <a:prstGeom prst="roundRect">
            <a:avLst/>
          </a:prstGeom>
          <a:solidFill>
            <a:srgbClr val="FBFCFD"/>
          </a:solidFill>
          <a:ln w="1905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Return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263647"/>
                </a:solidFill>
              </a:defRPr>
            </a:pPr>
            <a:r>
              <a:t>Close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617720"/>
            <a:ext cx="10195560" cy="868680"/>
          </a:xfrm>
          <a:prstGeom prst="roundRect">
            <a:avLst/>
          </a:prstGeom>
          <a:solidFill>
            <a:srgbClr val="1F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 shipment moves through seven controlled phases: commercial setup, origin readiness, shipping execution, release control, financial settlement, inland delivery, and formal closure.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Executive Snapshot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The system controls revenue, compliance, execution, and closure in one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COMMERCIAL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83080"/>
            <a:ext cx="4663440" cy="1417320"/>
          </a:xfrm>
          <a:prstGeom prst="roundRect">
            <a:avLst/>
          </a:prstGeom>
          <a:solidFill>
            <a:srgbClr val="FAFCFD"/>
          </a:solidFill>
          <a:ln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1783080"/>
            <a:ext cx="109728" cy="1417320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4767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C3D"/>
                </a:solidFill>
              </a:defRPr>
            </a:pPr>
            <a:r>
              <a:t>Commercial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069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26171"/>
                </a:solidFill>
              </a:defRPr>
            </a:pPr>
            <a:r>
              <a:t>Quote, booking, and carrier confirmation move from request to executable shipment.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33288" y="1783080"/>
            <a:ext cx="4663440" cy="1417320"/>
          </a:xfrm>
          <a:prstGeom prst="roundRect">
            <a:avLst/>
          </a:prstGeom>
          <a:solidFill>
            <a:srgbClr val="FAFCFD"/>
          </a:solidFill>
          <a:ln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33288" y="1783080"/>
            <a:ext cx="109728" cy="1417320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194767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C3D"/>
                </a:solidFill>
              </a:defRPr>
            </a:pPr>
            <a:r>
              <a:t>Compliance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2295144"/>
            <a:ext cx="4069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26171"/>
                </a:solidFill>
              </a:defRPr>
            </a:pPr>
            <a:r>
              <a:t>BL, manifest, LC review, and customs gates prevent uncontrolled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657600"/>
            <a:ext cx="4663440" cy="1417320"/>
          </a:xfrm>
          <a:prstGeom prst="roundRect">
            <a:avLst/>
          </a:prstGeom>
          <a:solidFill>
            <a:srgbClr val="FAFCFD"/>
          </a:solidFill>
          <a:ln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657600"/>
            <a:ext cx="109728" cy="1417320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C3D"/>
                </a:solidFill>
              </a:defRPr>
            </a:pPr>
            <a:r>
              <a:t>Financial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69664"/>
            <a:ext cx="4069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26171"/>
                </a:solidFill>
              </a:defRPr>
            </a:pPr>
            <a:r>
              <a:t>Charges, payment verification, and receipt issuance block release until settled.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33288" y="3657600"/>
            <a:ext cx="4663440" cy="1417320"/>
          </a:xfrm>
          <a:prstGeom prst="roundRect">
            <a:avLst/>
          </a:prstGeom>
          <a:solidFill>
            <a:srgbClr val="FAFCFD"/>
          </a:solidFill>
          <a:ln>
            <a:solidFill>
              <a:srgbClr val="D6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33288" y="3657600"/>
            <a:ext cx="109728" cy="1417320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61888" y="382219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2C3D"/>
                </a:solidFill>
              </a:defRPr>
            </a:pPr>
            <a:r>
              <a:t>Operational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4169664"/>
            <a:ext cx="4069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26171"/>
                </a:solidFill>
              </a:defRPr>
            </a:pPr>
            <a:r>
              <a:t>Dispatch, delivery, empty return, and closure complete the shipment lifecycle.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04688"/>
            <a:ext cx="10104120" cy="420624"/>
          </a:xfrm>
          <a:prstGeom prst="roundRect">
            <a:avLst/>
          </a:prstGeom>
          <a:solidFill>
            <a:srgbClr val="1C3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The platform acts as one control system across commercial setup, shipping execution, compliance, finance, inland delivery, and closure.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Full logistics lifecycle across external and internal control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COMMERCIAL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155448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Quote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965960"/>
            <a:ext cx="155448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4" y="1965960"/>
            <a:ext cx="155448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Shipping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4536" y="1965960"/>
            <a:ext cx="155448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1965960"/>
            <a:ext cx="155448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9255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78440" y="1965960"/>
            <a:ext cx="155448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Closure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800">
                <a:solidFill>
                  <a:srgbClr val="435466"/>
                </a:solidFill>
              </a:defRPr>
            </a:pPr>
            <a:r>
              <a:t>Integrated with shipping lines</a:t>
            </a:r>
          </a:p>
          <a:p>
            <a:pPr algn="ctr">
              <a:spcAft>
                <a:spcPts val="600"/>
              </a:spcAft>
              <a:defRPr sz="1800">
                <a:solidFill>
                  <a:srgbClr val="435466"/>
                </a:solidFill>
              </a:defRPr>
            </a:pPr>
            <a:r>
              <a:t>Integrated with banks (LC)</a:t>
            </a:r>
          </a:p>
          <a:p>
            <a:pPr algn="ctr">
              <a:spcAft>
                <a:spcPts val="600"/>
              </a:spcAft>
              <a:defRPr sz="1800">
                <a:solidFill>
                  <a:srgbClr val="435466"/>
                </a:solidFill>
              </a:defRPr>
            </a:pPr>
            <a:r>
              <a:t>Integrated with customs</a:t>
            </a:r>
          </a:p>
          <a:p>
            <a:pPr algn="ctr">
              <a:spcAft>
                <a:spcPts val="600"/>
              </a:spcAft>
              <a:defRPr sz="1800">
                <a:solidFill>
                  <a:srgbClr val="435466"/>
                </a:solidFill>
              </a:defRPr>
            </a:pPr>
            <a:r>
              <a:t>Integrated with inland transport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Quote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Commercial pricing starts the shipment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COMMERCIAL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664208"/>
            <a:ext cx="109728" cy="157276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Customer requests quote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664208"/>
            <a:ext cx="109728" cy="157276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Pricing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85A6B"/>
                </a:solidFill>
              </a:defRPr>
            </a:pPr>
            <a:r>
              <a:t>Sea (USD)</a:t>
            </a:r>
          </a:p>
          <a:p>
            <a:pPr>
              <a:spcAft>
                <a:spcPts val="600"/>
              </a:spcAft>
              <a:defRPr sz="1400">
                <a:solidFill>
                  <a:srgbClr val="485A6B"/>
                </a:solidFill>
              </a:defRPr>
            </a:pPr>
            <a:r>
              <a:t>Clearance (USD)</a:t>
            </a:r>
          </a:p>
          <a:p>
            <a:pPr>
              <a:spcAft>
                <a:spcPts val="600"/>
              </a:spcAft>
              <a:defRPr sz="1400">
                <a:solidFill>
                  <a:srgbClr val="485A6B"/>
                </a:solidFill>
              </a:defRPr>
            </a:pPr>
            <a:r>
              <a:t>Inland (ETB)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Booking &amp; Carrier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Carrier confirmation locks the shipping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COMMERCIAL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Booking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Carrier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Vessel assigned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547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Reference 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Commercial approval becomes an executable shipment 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Origin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Physical export readiness is confirmed at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0B7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Cargo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B7269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0B7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Stuffing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B7269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0B7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Container 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B7269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0B7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Seal locked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Origin control converts cargo readiness into a verifiable export unit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Shipping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Carrier instruction is prepared and accepted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SI prepared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5FA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Carrier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5FA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Shipment confirmed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Document accuracy protects downstream BL, manifest, and bank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Shipment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Ocean movement begins after port handoff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Gate-in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5FA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Loaded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5FA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Departure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35FA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Tracking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Execution status becomes visible across 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Core shipping documents establish legal movement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664208"/>
            <a:ext cx="109728" cy="157276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BL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485A6B"/>
                </a:solidFill>
              </a:defRPr>
            </a:pPr>
            <a:r>
              <a:t>Master BL</a:t>
            </a:r>
          </a:p>
          <a:p>
            <a:pPr>
              <a:spcAft>
                <a:spcPts val="600"/>
              </a:spcAft>
              <a:defRPr sz="1400">
                <a:solidFill>
                  <a:srgbClr val="485A6B"/>
                </a:solidFill>
              </a:defRPr>
            </a:pPr>
            <a:r>
              <a:t>House BL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664208"/>
            <a:ext cx="109728" cy="157276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Manifest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Cargo manifest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Bank (LC Process)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Document pack is validated through bank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Docs 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46A1C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Bank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46A1C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Approved /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Discrepancies loop back into document correction before release can continue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Arrival &amp; Djibouti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Port arrival shifts the file into release preparation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664208"/>
            <a:ext cx="109728" cy="15727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Arrival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Vessel arrival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664208"/>
            <a:ext cx="109728" cy="15727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Release preparation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Clearance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Customs gate controls legal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664208"/>
            <a:ext cx="109728" cy="15727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Customs clearance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664208"/>
            <a:ext cx="109728" cy="15727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Shipment approved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Financial settlement controls downstream cargo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Charges issued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7C48A3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Customer pays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7C48A3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Finance verifies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7C48A3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Receipt issued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Release does not move until settlement is complete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Release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Release authority is pushed into port and dry-port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Receipt issued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46A1C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Release 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46A1C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Dry port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Commercial settlement is translated into an operational release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Dispatch &amp;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Inland execution completes customer fulfillment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Truck assigned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8764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Cargo released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87642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Inland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87642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Delivered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Dry port to customer handoff is managed as one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Container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Equipment return is required to complete operational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Empty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55464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Yard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310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55464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4" y="1965960"/>
            <a:ext cx="2057400" cy="960120"/>
          </a:xfrm>
          <a:prstGeom prst="roundRect">
            <a:avLst/>
          </a:prstGeom>
          <a:solidFill>
            <a:srgbClr val="F9FBFD"/>
          </a:solidFill>
          <a:ln w="2540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2E3F"/>
                </a:solidFill>
              </a:defRPr>
            </a:pPr>
            <a:r>
              <a:t>Container closed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40480"/>
            <a:ext cx="10241280" cy="1143000"/>
          </a:xfrm>
          <a:prstGeom prst="roundRect">
            <a:avLst/>
          </a:prstGeom>
          <a:solidFill>
            <a:srgbClr val="F1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35466"/>
                </a:solidFill>
              </a:defRPr>
            </a:pPr>
            <a:r>
              <a:t>No equipment return means the shipment is not operationally complete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Driver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Driver reimbursement closes the transport expense 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" y="1664208"/>
            <a:ext cx="109728" cy="1572768"/>
          </a:xfrm>
          <a:prstGeom prst="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Field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Driver uploads expenses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664208"/>
            <a:ext cx="5074920" cy="1572768"/>
          </a:xfrm>
          <a:prstGeom prst="roundRect">
            <a:avLst/>
          </a:prstGeom>
          <a:solidFill>
            <a:srgbClr val="FAFCFD"/>
          </a:solidFill>
          <a:ln>
            <a:solidFill>
              <a:srgbClr val="DBE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1664208"/>
            <a:ext cx="109728" cy="1572768"/>
          </a:xfrm>
          <a:prstGeom prst="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8105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93A"/>
                </a:solidFill>
              </a:defRPr>
            </a:pPr>
            <a:r>
              <a:t>Finance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76272"/>
            <a:ext cx="47548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85A6B"/>
                </a:solidFill>
              </a:defRPr>
            </a:pPr>
            <a:r>
              <a:t>Finance reimburses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Shipment is only complete when every control point is satisfied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1737360"/>
            <a:ext cx="3566160" cy="3566160"/>
          </a:xfrm>
          <a:prstGeom prst="ellipse">
            <a:avLst/>
          </a:prstGeom>
          <a:solidFill>
            <a:srgbClr val="F5F8FA"/>
          </a:solidFill>
          <a:ln w="5080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2331720"/>
            <a:ext cx="2377440" cy="2377440"/>
          </a:xfrm>
          <a:prstGeom prst="ellipse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SHIPMENT</a:t>
            </a:r>
            <a:br/>
            <a:r>
              <a:t>CLOSED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240280"/>
            <a:ext cx="2560320" cy="566928"/>
          </a:xfrm>
          <a:prstGeom prst="roundRect">
            <a:avLst/>
          </a:prstGeom>
          <a:solidFill>
            <a:srgbClr val="FAFCFD"/>
          </a:solidFill>
          <a:ln>
            <a:solidFill>
              <a:srgbClr val="C4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2E3F50"/>
                </a:solidFill>
              </a:defRPr>
            </a:pPr>
            <a:r>
              <a:t>Commercial 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40280"/>
            <a:ext cx="2560320" cy="566928"/>
          </a:xfrm>
          <a:prstGeom prst="roundRect">
            <a:avLst/>
          </a:prstGeom>
          <a:solidFill>
            <a:srgbClr val="FAFCFD"/>
          </a:solidFill>
          <a:ln>
            <a:solidFill>
              <a:srgbClr val="C4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2E3F50"/>
                </a:solidFill>
              </a:defRPr>
            </a:pPr>
            <a:r>
              <a:t>Documents cleared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840480"/>
            <a:ext cx="2560320" cy="566928"/>
          </a:xfrm>
          <a:prstGeom prst="roundRect">
            <a:avLst/>
          </a:prstGeom>
          <a:solidFill>
            <a:srgbClr val="FAFCFD"/>
          </a:solidFill>
          <a:ln>
            <a:solidFill>
              <a:srgbClr val="C4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2E3F50"/>
                </a:solidFill>
              </a:defRPr>
            </a:pPr>
            <a:r>
              <a:t>Delivery confirmed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840480"/>
            <a:ext cx="2560320" cy="566928"/>
          </a:xfrm>
          <a:prstGeom prst="roundRect">
            <a:avLst/>
          </a:prstGeom>
          <a:solidFill>
            <a:srgbClr val="FAFCFD"/>
          </a:solidFill>
          <a:ln>
            <a:solidFill>
              <a:srgbClr val="C4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2E3F50"/>
                </a:solidFill>
              </a:defRPr>
            </a:pPr>
            <a:r>
              <a:t>Container returned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504688"/>
            <a:ext cx="10104120" cy="420624"/>
          </a:xfrm>
          <a:prstGeom prst="roundRect">
            <a:avLst/>
          </a:prstGeom>
          <a:solidFill>
            <a:srgbClr val="1F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Closure is not just status marking. It confirms commercial, documentary, financial, delivery, and equipment return completion.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Control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System rules enforce operating discipline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1184" y="2715768"/>
            <a:ext cx="2377440" cy="877824"/>
          </a:xfrm>
          <a:prstGeom prst="roundRect">
            <a:avLst/>
          </a:prstGeom>
          <a:solidFill>
            <a:srgbClr val="1F31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SYSTEM</a:t>
            </a:r>
            <a:br/>
            <a:r>
              <a:t>ENFORCEMENT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3840480" cy="1188720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203911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C3D"/>
                </a:solidFill>
              </a:defRPr>
            </a:pPr>
            <a:r>
              <a:t>Payment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2377439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66474"/>
                </a:solidFill>
              </a:defRPr>
            </a:pPr>
            <a:r>
              <a:t>No payment -&gt; No release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874519"/>
            <a:ext cx="3840480" cy="1188720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03911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C3D"/>
                </a:solidFill>
              </a:defRPr>
            </a:pPr>
            <a:r>
              <a:t>Document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377439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66474"/>
                </a:solidFill>
              </a:defRPr>
            </a:pPr>
            <a:r>
              <a:t>No BL -&gt; No bank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60520"/>
            <a:ext cx="3840480" cy="1188720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432511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C3D"/>
                </a:solidFill>
              </a:defRPr>
            </a:pPr>
            <a:r>
              <a:t>Customs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46634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66474"/>
                </a:solidFill>
              </a:defRPr>
            </a:pPr>
            <a:r>
              <a:t>No clearance -&gt; No 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160520"/>
            <a:ext cx="3840480" cy="1188720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2088" y="432511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2C3D"/>
                </a:solidFill>
              </a:defRPr>
            </a:pPr>
            <a:r>
              <a:t>Closure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46634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566474"/>
                </a:solidFill>
              </a:defRPr>
            </a:pPr>
            <a:r>
              <a:t>No return -&gt; Not closed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0600" y="2395728"/>
            <a:ext cx="548640" cy="420624"/>
          </a:xfrm>
          <a:prstGeom prst="line">
            <a:avLst/>
          </a:prstGeom>
          <a:ln w="19050">
            <a:solidFill>
              <a:srgbClr val="7E8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269480" y="2816352"/>
            <a:ext cx="91440" cy="0"/>
          </a:xfrm>
          <a:prstGeom prst="line">
            <a:avLst/>
          </a:prstGeom>
          <a:ln w="19050">
            <a:solidFill>
              <a:srgbClr val="7E8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800600" y="3529584"/>
            <a:ext cx="548640" cy="1133856"/>
          </a:xfrm>
          <a:prstGeom prst="line">
            <a:avLst/>
          </a:prstGeom>
          <a:ln w="19050">
            <a:solidFill>
              <a:srgbClr val="7E8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7269480" y="3529584"/>
            <a:ext cx="91440" cy="1133856"/>
          </a:xfrm>
          <a:prstGeom prst="line">
            <a:avLst/>
          </a:prstGeom>
          <a:ln w="19050">
            <a:solidFill>
              <a:srgbClr val="7E8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868680"/>
            <a:ext cx="113842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" y="1005840"/>
            <a:ext cx="128016" cy="475488"/>
          </a:xfrm>
          <a:prstGeom prst="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kur-aba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91440"/>
            <a:ext cx="645886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11887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Detailed 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987552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82738"/>
                </a:solidFill>
              </a:defRPr>
            </a:pPr>
            <a:r>
              <a:t>31 operational steps from quote to shipment closure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87552"/>
            <a:ext cx="1645920" cy="365760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64208"/>
            <a:ext cx="1444752" cy="420624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Commercial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194560"/>
            <a:ext cx="1444752" cy="4389120"/>
          </a:xfrm>
          <a:prstGeom prst="roundRect">
            <a:avLst/>
          </a:prstGeom>
          <a:solidFill>
            <a:srgbClr val="FBFCFD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2359152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1. Customer requests quote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9864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478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" y="2926080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2. Tikur Abay prepares quote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65576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478"/>
                </a:solidFill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" y="3493008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3. Customer approves quote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32504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478"/>
                </a:solidFill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" y="4059936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4. Booking created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99432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5478"/>
                </a:solidFill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4626864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145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5. Carrier booking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2" y="3968496"/>
            <a:ext cx="1280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D7C8A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59152" y="1664208"/>
            <a:ext cx="1444752" cy="420624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9152" y="2194560"/>
            <a:ext cx="1444752" cy="4389120"/>
          </a:xfrm>
          <a:prstGeom prst="roundRect">
            <a:avLst/>
          </a:prstGeom>
          <a:solidFill>
            <a:srgbClr val="FBFCFD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459736" y="2359152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0B7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6. Origin preparation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89864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B7269"/>
                </a:solidFill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9736" y="2926080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0B7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7. Shipping instruction prepared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968496"/>
            <a:ext cx="1280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D7C8A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1664208"/>
            <a:ext cx="1444752" cy="420624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2194560"/>
            <a:ext cx="1444752" cy="4389120"/>
          </a:xfrm>
          <a:prstGeom prst="roundRect">
            <a:avLst/>
          </a:prstGeom>
          <a:solidFill>
            <a:srgbClr val="FBFCFD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32504" y="2359152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8. SI submitted to carrier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289864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5FA8"/>
                </a:solidFill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32504" y="2926080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9. Carrier confirms shipment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3465576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5FA8"/>
                </a:solidFill>
              </a:defRPr>
            </a:pPr>
            <a: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32504" y="3493008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10. Container loaded and vessel departs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032504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5FA8"/>
                </a:solidFill>
              </a:defRPr>
            </a:pPr>
            <a: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32504" y="4059936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11. BL generated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4599432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5FA8"/>
                </a:solidFill>
              </a:defRPr>
            </a:pPr>
            <a: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32504" y="4626864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3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12. Cargo manifest generated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3968496"/>
            <a:ext cx="1280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D7C8A"/>
                </a:solidFill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04688" y="1664208"/>
            <a:ext cx="1444752" cy="420624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04688" y="2194560"/>
            <a:ext cx="1444752" cy="4389120"/>
          </a:xfrm>
          <a:prstGeom prst="roundRect">
            <a:avLst/>
          </a:prstGeom>
          <a:solidFill>
            <a:srgbClr val="FBFCFD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05272" y="2359152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13. Documents submitted to bank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9904" y="289864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6A1C"/>
                </a:solidFill>
              </a:defRPr>
            </a:pPr>
            <a: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05272" y="2926080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14. LC validation 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9904" y="3465576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6A1C"/>
                </a:solidFill>
              </a:defRPr>
            </a:pPr>
            <a: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05272" y="3493008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15. Vessel arrives Djibouti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9904" y="4032504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6A1C"/>
                </a:solidFill>
              </a:defRPr>
            </a:pPr>
            <a: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05272" y="4059936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16. Release preparation starts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9904" y="4599432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6A1C"/>
                </a:solidFill>
              </a:defRPr>
            </a:pPr>
            <a: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05272" y="4626864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B46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17. Customs clearance processed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0296" y="3968496"/>
            <a:ext cx="1280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D7C8A"/>
                </a:solidFill>
              </a:defRPr>
            </a:pPr>
            <a: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77456" y="1664208"/>
            <a:ext cx="1444752" cy="420624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77456" y="2194560"/>
            <a:ext cx="1444752" cy="4389120"/>
          </a:xfrm>
          <a:prstGeom prst="roundRect">
            <a:avLst/>
          </a:prstGeom>
          <a:solidFill>
            <a:srgbClr val="FBFCFD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178040" y="2359152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18. Customer charges issued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2672" y="289864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C48A3"/>
                </a:solidFill>
              </a:defRPr>
            </a:pPr>
            <a:r>
              <a:t>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78040" y="2926080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19. Customer pays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62672" y="3465576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C48A3"/>
                </a:solidFill>
              </a:defRPr>
            </a:pPr>
            <a:r>
              <a:t>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78040" y="3493008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20. Finance verifies payment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62672" y="4032504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C48A3"/>
                </a:solidFill>
              </a:defRPr>
            </a:pPr>
            <a:r>
              <a:t>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78040" y="4059936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7C4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21. Official receipt issued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13064" y="3968496"/>
            <a:ext cx="1280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D7C8A"/>
                </a:solidFill>
              </a:defRPr>
            </a:pPr>
            <a: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50224" y="1664208"/>
            <a:ext cx="1444752" cy="420624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50224" y="2194560"/>
            <a:ext cx="1444752" cy="4389120"/>
          </a:xfrm>
          <a:prstGeom prst="roundRect">
            <a:avLst/>
          </a:prstGeom>
          <a:solidFill>
            <a:srgbClr val="FBFCFD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750808" y="2359152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22. Release authorization sent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289864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7642"/>
                </a:solidFill>
              </a:defRPr>
            </a:pPr>
            <a:r>
              <a:t>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50808" y="2926080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23. Cargo released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5440" y="3465576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7642"/>
                </a:solidFill>
              </a:defRPr>
            </a:pPr>
            <a:r>
              <a:t>↓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50808" y="3493008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24. Truck assigned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4032504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7642"/>
                </a:solidFill>
              </a:defRPr>
            </a:pPr>
            <a:r>
              <a:t>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0808" y="4059936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25. Inland transport executed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35440" y="4599432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7642"/>
                </a:solidFill>
              </a:defRPr>
            </a:pPr>
            <a:r>
              <a:t>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50808" y="4626864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287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26. Delivery completed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85832" y="3968496"/>
            <a:ext cx="12801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D7C8A"/>
                </a:solidFill>
              </a:defRPr>
            </a:pPr>
            <a: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222992" y="1664208"/>
            <a:ext cx="1444752" cy="420624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222992" y="2194560"/>
            <a:ext cx="1444752" cy="4389120"/>
          </a:xfrm>
          <a:prstGeom prst="roundRect">
            <a:avLst/>
          </a:prstGeom>
          <a:solidFill>
            <a:srgbClr val="FBFCFD"/>
          </a:solidFill>
          <a:ln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323576" y="2359152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27. Empty container returned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08208" y="2898648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55464"/>
                </a:solidFill>
              </a:defRPr>
            </a:pPr>
            <a:r>
              <a:t>↓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323576" y="2926080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28. Driver uploads expenses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08208" y="3465576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55464"/>
                </a:solidFill>
              </a:defRPr>
            </a:pPr>
            <a:r>
              <a:t>↓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323576" y="3493008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29. Finance reimburses driver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08208" y="4032504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55464"/>
                </a:solidFill>
              </a:defRPr>
            </a:pPr>
            <a:r>
              <a:t>↓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323576" y="4059936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30. Container closed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08208" y="4599432"/>
            <a:ext cx="2743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55464"/>
                </a:solidFill>
              </a:defRPr>
            </a:pPr>
            <a:r>
              <a:t>↓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323576" y="4626864"/>
            <a:ext cx="1243584" cy="475488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455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73849"/>
                </a:solidFill>
              </a:defRPr>
            </a:pPr>
            <a:r>
              <a:t>31. Shipment closed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68680" y="5486400"/>
            <a:ext cx="10195560" cy="438912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23447"/>
                </a:solidFill>
              </a:defRPr>
            </a:pPr>
            <a:r>
              <a:t>Every shipment moves across seven controlled lanes, with release and closure blocked until the required upstream steps are complete.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86384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Quote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024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084831" y="5806440"/>
            <a:ext cx="1115568" cy="347472"/>
          </a:xfrm>
          <a:prstGeom prst="roundRect">
            <a:avLst/>
          </a:prstGeom>
          <a:solidFill>
            <a:srgbClr val="145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Booking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8687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383279" y="5806440"/>
            <a:ext cx="1115568" cy="347472"/>
          </a:xfrm>
          <a:prstGeom prst="roundRect">
            <a:avLst/>
          </a:prstGeom>
          <a:solidFill>
            <a:srgbClr val="0B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Origin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7136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81728" y="5806440"/>
            <a:ext cx="1115568" cy="347472"/>
          </a:xfrm>
          <a:prstGeom prst="roundRect">
            <a:avLst/>
          </a:prstGeom>
          <a:solidFill>
            <a:srgbClr val="23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Shipping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15584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80176" y="5806440"/>
            <a:ext cx="1115568" cy="347472"/>
          </a:xfrm>
          <a:prstGeom prst="roundRect">
            <a:avLst/>
          </a:prstGeom>
          <a:solidFill>
            <a:srgbClr val="B46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14032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278624" y="5806440"/>
            <a:ext cx="1115568" cy="347472"/>
          </a:xfrm>
          <a:prstGeom prst="roundRect">
            <a:avLst/>
          </a:prstGeom>
          <a:solidFill>
            <a:srgbClr val="7C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577072" y="5806440"/>
            <a:ext cx="1115568" cy="347472"/>
          </a:xfrm>
          <a:prstGeom prst="roundRect">
            <a:avLst/>
          </a:prstGeom>
          <a:solidFill>
            <a:srgbClr val="287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Delivery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710928" y="5811012"/>
            <a:ext cx="1645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57687"/>
                </a:solidFill>
              </a:defRPr>
            </a:pPr>
            <a:r>
              <a:t>&gt;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875519" y="5806440"/>
            <a:ext cx="1115568" cy="347472"/>
          </a:xfrm>
          <a:prstGeom prst="roundRect">
            <a:avLst/>
          </a:prstGeom>
          <a:solidFill>
            <a:srgbClr val="455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